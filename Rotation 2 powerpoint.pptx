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8" r:id="rId4"/>
    <p:sldId id="257" r:id="rId5"/>
    <p:sldId id="260" r:id="rId6"/>
    <p:sldId id="267" r:id="rId7"/>
    <p:sldId id="263" r:id="rId8"/>
    <p:sldId id="262" r:id="rId9"/>
    <p:sldId id="265" r:id="rId10"/>
    <p:sldId id="258" r:id="rId11"/>
    <p:sldId id="264" r:id="rId12"/>
    <p:sldId id="261" r:id="rId13"/>
    <p:sldId id="270" r:id="rId14"/>
    <p:sldId id="269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F702B8-9F8A-46D3-8BB7-B003F475AB9E}" type="doc">
      <dgm:prSet loTypeId="urn:microsoft.com/office/officeart/2005/8/layout/process1" loCatId="process" qsTypeId="urn:microsoft.com/office/officeart/2005/8/quickstyle/simple4" qsCatId="simple" csTypeId="urn:microsoft.com/office/officeart/2005/8/colors/accent1_2" csCatId="accent1" phldr="1"/>
      <dgm:spPr/>
    </dgm:pt>
    <dgm:pt modelId="{DE6873CA-1B9D-4EFA-AAC2-17C42E8C44AE}">
      <dgm:prSet phldrT="[Text]"/>
      <dgm:spPr/>
      <dgm:t>
        <a:bodyPr/>
        <a:lstStyle/>
        <a:p>
          <a:r>
            <a:rPr lang="en-GB" dirty="0"/>
            <a:t>Other Data (Weather, Location, Crop Variety, Soil Type)</a:t>
          </a:r>
        </a:p>
      </dgm:t>
    </dgm:pt>
    <dgm:pt modelId="{EC55F70B-FA9D-45C6-80A3-9418F0539A81}" type="parTrans" cxnId="{915E393D-EC06-45BF-9EFA-DBA460CE1FB0}">
      <dgm:prSet/>
      <dgm:spPr/>
      <dgm:t>
        <a:bodyPr/>
        <a:lstStyle/>
        <a:p>
          <a:endParaRPr lang="en-GB"/>
        </a:p>
      </dgm:t>
    </dgm:pt>
    <dgm:pt modelId="{5C5C7CCC-FDC1-4D8F-8CA9-77F386B6EDBD}" type="sibTrans" cxnId="{915E393D-EC06-45BF-9EFA-DBA460CE1FB0}">
      <dgm:prSet/>
      <dgm:spPr/>
      <dgm:t>
        <a:bodyPr/>
        <a:lstStyle/>
        <a:p>
          <a:endParaRPr lang="en-GB"/>
        </a:p>
      </dgm:t>
    </dgm:pt>
    <dgm:pt modelId="{9AB77337-B0EF-4F4A-8316-C02D0741FB87}">
      <dgm:prSet phldrT="[Text]"/>
      <dgm:spPr>
        <a:noFill/>
      </dgm:spPr>
      <dgm:t>
        <a:bodyPr/>
        <a:lstStyle/>
        <a:p>
          <a:endParaRPr lang="en-GB" dirty="0"/>
        </a:p>
      </dgm:t>
    </dgm:pt>
    <dgm:pt modelId="{A549A5ED-E32C-41BA-9E91-8DCCA901BCCA}" type="sibTrans" cxnId="{6419FBFB-D5E7-42CA-B05D-119EFE87B936}">
      <dgm:prSet/>
      <dgm:spPr/>
      <dgm:t>
        <a:bodyPr/>
        <a:lstStyle/>
        <a:p>
          <a:endParaRPr lang="en-GB"/>
        </a:p>
      </dgm:t>
    </dgm:pt>
    <dgm:pt modelId="{2E70F74A-960C-4B67-8E25-C691FC784420}" type="parTrans" cxnId="{6419FBFB-D5E7-42CA-B05D-119EFE87B936}">
      <dgm:prSet/>
      <dgm:spPr/>
      <dgm:t>
        <a:bodyPr/>
        <a:lstStyle/>
        <a:p>
          <a:endParaRPr lang="en-GB"/>
        </a:p>
      </dgm:t>
    </dgm:pt>
    <dgm:pt modelId="{4E37D959-052D-4C75-ABD3-F6D9286A1805}" type="pres">
      <dgm:prSet presAssocID="{E3F702B8-9F8A-46D3-8BB7-B003F475AB9E}" presName="Name0" presStyleCnt="0">
        <dgm:presLayoutVars>
          <dgm:dir/>
          <dgm:resizeHandles val="exact"/>
        </dgm:presLayoutVars>
      </dgm:prSet>
      <dgm:spPr/>
    </dgm:pt>
    <dgm:pt modelId="{9A783BD9-7931-48C7-9AA7-C155C9018D91}" type="pres">
      <dgm:prSet presAssocID="{DE6873CA-1B9D-4EFA-AAC2-17C42E8C44AE}" presName="node" presStyleLbl="node1" presStyleIdx="0" presStyleCnt="2" custScaleX="18453" custScaleY="30727" custLinFactNeighborX="-37175" custLinFactNeighborY="3527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1110B0-21C4-4351-BB68-2F7E443978FE}" type="pres">
      <dgm:prSet presAssocID="{5C5C7CCC-FDC1-4D8F-8CA9-77F386B6EDBD}" presName="sibTrans" presStyleLbl="sibTrans2D1" presStyleIdx="0" presStyleCnt="1" custScaleX="149581" custScaleY="20052" custLinFactNeighborX="-3395" custLinFactNeighborY="11099"/>
      <dgm:spPr/>
      <dgm:t>
        <a:bodyPr/>
        <a:lstStyle/>
        <a:p>
          <a:endParaRPr lang="en-US"/>
        </a:p>
      </dgm:t>
    </dgm:pt>
    <dgm:pt modelId="{E8A8C77E-933A-4095-9D52-E840E3C71223}" type="pres">
      <dgm:prSet presAssocID="{5C5C7CCC-FDC1-4D8F-8CA9-77F386B6EDBD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9C1E763F-08A6-4D7C-90C5-DED10BCC3BD4}" type="pres">
      <dgm:prSet presAssocID="{9AB77337-B0EF-4F4A-8316-C02D0741FB87}" presName="node" presStyleLbl="node1" presStyleIdx="1" presStyleCnt="2" custScaleX="13774" custScaleY="19013" custLinFactX="-6138" custLinFactNeighborX="-100000" custLinFactNeighborY="-145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A4741A8-17B5-4CF2-8E3E-0D86268E3888}" type="presOf" srcId="{5C5C7CCC-FDC1-4D8F-8CA9-77F386B6EDBD}" destId="{E8A8C77E-933A-4095-9D52-E840E3C71223}" srcOrd="1" destOrd="0" presId="urn:microsoft.com/office/officeart/2005/8/layout/process1"/>
    <dgm:cxn modelId="{EA31704D-B466-46BF-9152-D05B4AE61405}" type="presOf" srcId="{9AB77337-B0EF-4F4A-8316-C02D0741FB87}" destId="{9C1E763F-08A6-4D7C-90C5-DED10BCC3BD4}" srcOrd="0" destOrd="0" presId="urn:microsoft.com/office/officeart/2005/8/layout/process1"/>
    <dgm:cxn modelId="{CB323419-E5D4-48DE-BC03-22E3EF7DE1A4}" type="presOf" srcId="{DE6873CA-1B9D-4EFA-AAC2-17C42E8C44AE}" destId="{9A783BD9-7931-48C7-9AA7-C155C9018D91}" srcOrd="0" destOrd="0" presId="urn:microsoft.com/office/officeart/2005/8/layout/process1"/>
    <dgm:cxn modelId="{6419FBFB-D5E7-42CA-B05D-119EFE87B936}" srcId="{E3F702B8-9F8A-46D3-8BB7-B003F475AB9E}" destId="{9AB77337-B0EF-4F4A-8316-C02D0741FB87}" srcOrd="1" destOrd="0" parTransId="{2E70F74A-960C-4B67-8E25-C691FC784420}" sibTransId="{A549A5ED-E32C-41BA-9E91-8DCCA901BCCA}"/>
    <dgm:cxn modelId="{915E393D-EC06-45BF-9EFA-DBA460CE1FB0}" srcId="{E3F702B8-9F8A-46D3-8BB7-B003F475AB9E}" destId="{DE6873CA-1B9D-4EFA-AAC2-17C42E8C44AE}" srcOrd="0" destOrd="0" parTransId="{EC55F70B-FA9D-45C6-80A3-9418F0539A81}" sibTransId="{5C5C7CCC-FDC1-4D8F-8CA9-77F386B6EDBD}"/>
    <dgm:cxn modelId="{770CBFAA-A202-42BA-8A31-9F68ECF23FEB}" type="presOf" srcId="{E3F702B8-9F8A-46D3-8BB7-B003F475AB9E}" destId="{4E37D959-052D-4C75-ABD3-F6D9286A1805}" srcOrd="0" destOrd="0" presId="urn:microsoft.com/office/officeart/2005/8/layout/process1"/>
    <dgm:cxn modelId="{79AE3096-AD28-453F-8F0A-6446F4819013}" type="presOf" srcId="{5C5C7CCC-FDC1-4D8F-8CA9-77F386B6EDBD}" destId="{7D1110B0-21C4-4351-BB68-2F7E443978FE}" srcOrd="0" destOrd="0" presId="urn:microsoft.com/office/officeart/2005/8/layout/process1"/>
    <dgm:cxn modelId="{1E385113-A5C1-48DB-B984-2738A3D6903E}" type="presParOf" srcId="{4E37D959-052D-4C75-ABD3-F6D9286A1805}" destId="{9A783BD9-7931-48C7-9AA7-C155C9018D91}" srcOrd="0" destOrd="0" presId="urn:microsoft.com/office/officeart/2005/8/layout/process1"/>
    <dgm:cxn modelId="{6A9F8C00-8C9B-4FEB-BAA2-F913FE509729}" type="presParOf" srcId="{4E37D959-052D-4C75-ABD3-F6D9286A1805}" destId="{7D1110B0-21C4-4351-BB68-2F7E443978FE}" srcOrd="1" destOrd="0" presId="urn:microsoft.com/office/officeart/2005/8/layout/process1"/>
    <dgm:cxn modelId="{41299D87-8019-4BE0-9FB4-F8E483B5F37B}" type="presParOf" srcId="{7D1110B0-21C4-4351-BB68-2F7E443978FE}" destId="{E8A8C77E-933A-4095-9D52-E840E3C71223}" srcOrd="0" destOrd="0" presId="urn:microsoft.com/office/officeart/2005/8/layout/process1"/>
    <dgm:cxn modelId="{59D54A23-B1FA-45B3-9F6D-5F142C1777FE}" type="presParOf" srcId="{4E37D959-052D-4C75-ABD3-F6D9286A1805}" destId="{9C1E763F-08A6-4D7C-90C5-DED10BCC3BD4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F702B8-9F8A-46D3-8BB7-B003F475AB9E}" type="doc">
      <dgm:prSet loTypeId="urn:microsoft.com/office/officeart/2005/8/layout/process1" loCatId="process" qsTypeId="urn:microsoft.com/office/officeart/2005/8/quickstyle/simple4" qsCatId="simple" csTypeId="urn:microsoft.com/office/officeart/2005/8/colors/accent1_2" csCatId="accent1" phldr="1"/>
      <dgm:spPr/>
    </dgm:pt>
    <dgm:pt modelId="{DE6873CA-1B9D-4EFA-AAC2-17C42E8C44AE}">
      <dgm:prSet phldrT="[Text]"/>
      <dgm:spPr/>
      <dgm:t>
        <a:bodyPr/>
        <a:lstStyle/>
        <a:p>
          <a:r>
            <a:rPr lang="en-GB" dirty="0"/>
            <a:t>Other Data (Weather, Location, Crop Variety, Soil Type)</a:t>
          </a:r>
        </a:p>
      </dgm:t>
    </dgm:pt>
    <dgm:pt modelId="{EC55F70B-FA9D-45C6-80A3-9418F0539A81}" type="parTrans" cxnId="{915E393D-EC06-45BF-9EFA-DBA460CE1FB0}">
      <dgm:prSet/>
      <dgm:spPr/>
      <dgm:t>
        <a:bodyPr/>
        <a:lstStyle/>
        <a:p>
          <a:endParaRPr lang="en-GB"/>
        </a:p>
      </dgm:t>
    </dgm:pt>
    <dgm:pt modelId="{5C5C7CCC-FDC1-4D8F-8CA9-77F386B6EDBD}" type="sibTrans" cxnId="{915E393D-EC06-45BF-9EFA-DBA460CE1FB0}">
      <dgm:prSet/>
      <dgm:spPr/>
      <dgm:t>
        <a:bodyPr/>
        <a:lstStyle/>
        <a:p>
          <a:endParaRPr lang="en-GB"/>
        </a:p>
      </dgm:t>
    </dgm:pt>
    <dgm:pt modelId="{9AB77337-B0EF-4F4A-8316-C02D0741FB87}">
      <dgm:prSet phldrT="[Text]"/>
      <dgm:spPr>
        <a:noFill/>
      </dgm:spPr>
      <dgm:t>
        <a:bodyPr/>
        <a:lstStyle/>
        <a:p>
          <a:endParaRPr lang="en-GB" dirty="0"/>
        </a:p>
      </dgm:t>
    </dgm:pt>
    <dgm:pt modelId="{A549A5ED-E32C-41BA-9E91-8DCCA901BCCA}" type="sibTrans" cxnId="{6419FBFB-D5E7-42CA-B05D-119EFE87B936}">
      <dgm:prSet/>
      <dgm:spPr/>
      <dgm:t>
        <a:bodyPr/>
        <a:lstStyle/>
        <a:p>
          <a:endParaRPr lang="en-GB"/>
        </a:p>
      </dgm:t>
    </dgm:pt>
    <dgm:pt modelId="{2E70F74A-960C-4B67-8E25-C691FC784420}" type="parTrans" cxnId="{6419FBFB-D5E7-42CA-B05D-119EFE87B936}">
      <dgm:prSet/>
      <dgm:spPr/>
      <dgm:t>
        <a:bodyPr/>
        <a:lstStyle/>
        <a:p>
          <a:endParaRPr lang="en-GB"/>
        </a:p>
      </dgm:t>
    </dgm:pt>
    <dgm:pt modelId="{4E37D959-052D-4C75-ABD3-F6D9286A1805}" type="pres">
      <dgm:prSet presAssocID="{E3F702B8-9F8A-46D3-8BB7-B003F475AB9E}" presName="Name0" presStyleCnt="0">
        <dgm:presLayoutVars>
          <dgm:dir/>
          <dgm:resizeHandles val="exact"/>
        </dgm:presLayoutVars>
      </dgm:prSet>
      <dgm:spPr/>
    </dgm:pt>
    <dgm:pt modelId="{9A783BD9-7931-48C7-9AA7-C155C9018D91}" type="pres">
      <dgm:prSet presAssocID="{DE6873CA-1B9D-4EFA-AAC2-17C42E8C44AE}" presName="node" presStyleLbl="node1" presStyleIdx="0" presStyleCnt="2" custScaleX="18453" custScaleY="30727" custLinFactNeighborX="-37175" custLinFactNeighborY="3527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1110B0-21C4-4351-BB68-2F7E443978FE}" type="pres">
      <dgm:prSet presAssocID="{5C5C7CCC-FDC1-4D8F-8CA9-77F386B6EDBD}" presName="sibTrans" presStyleLbl="sibTrans2D1" presStyleIdx="0" presStyleCnt="1" custScaleX="149581" custScaleY="20052" custLinFactNeighborX="-3395" custLinFactNeighborY="11099"/>
      <dgm:spPr/>
      <dgm:t>
        <a:bodyPr/>
        <a:lstStyle/>
        <a:p>
          <a:endParaRPr lang="en-US"/>
        </a:p>
      </dgm:t>
    </dgm:pt>
    <dgm:pt modelId="{E8A8C77E-933A-4095-9D52-E840E3C71223}" type="pres">
      <dgm:prSet presAssocID="{5C5C7CCC-FDC1-4D8F-8CA9-77F386B6EDBD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9C1E763F-08A6-4D7C-90C5-DED10BCC3BD4}" type="pres">
      <dgm:prSet presAssocID="{9AB77337-B0EF-4F4A-8316-C02D0741FB87}" presName="node" presStyleLbl="node1" presStyleIdx="1" presStyleCnt="2" custScaleX="13774" custScaleY="19013" custLinFactX="-6138" custLinFactNeighborX="-100000" custLinFactNeighborY="-145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A4741A8-17B5-4CF2-8E3E-0D86268E3888}" type="presOf" srcId="{5C5C7CCC-FDC1-4D8F-8CA9-77F386B6EDBD}" destId="{E8A8C77E-933A-4095-9D52-E840E3C71223}" srcOrd="1" destOrd="0" presId="urn:microsoft.com/office/officeart/2005/8/layout/process1"/>
    <dgm:cxn modelId="{EA31704D-B466-46BF-9152-D05B4AE61405}" type="presOf" srcId="{9AB77337-B0EF-4F4A-8316-C02D0741FB87}" destId="{9C1E763F-08A6-4D7C-90C5-DED10BCC3BD4}" srcOrd="0" destOrd="0" presId="urn:microsoft.com/office/officeart/2005/8/layout/process1"/>
    <dgm:cxn modelId="{CB323419-E5D4-48DE-BC03-22E3EF7DE1A4}" type="presOf" srcId="{DE6873CA-1B9D-4EFA-AAC2-17C42E8C44AE}" destId="{9A783BD9-7931-48C7-9AA7-C155C9018D91}" srcOrd="0" destOrd="0" presId="urn:microsoft.com/office/officeart/2005/8/layout/process1"/>
    <dgm:cxn modelId="{6419FBFB-D5E7-42CA-B05D-119EFE87B936}" srcId="{E3F702B8-9F8A-46D3-8BB7-B003F475AB9E}" destId="{9AB77337-B0EF-4F4A-8316-C02D0741FB87}" srcOrd="1" destOrd="0" parTransId="{2E70F74A-960C-4B67-8E25-C691FC784420}" sibTransId="{A549A5ED-E32C-41BA-9E91-8DCCA901BCCA}"/>
    <dgm:cxn modelId="{915E393D-EC06-45BF-9EFA-DBA460CE1FB0}" srcId="{E3F702B8-9F8A-46D3-8BB7-B003F475AB9E}" destId="{DE6873CA-1B9D-4EFA-AAC2-17C42E8C44AE}" srcOrd="0" destOrd="0" parTransId="{EC55F70B-FA9D-45C6-80A3-9418F0539A81}" sibTransId="{5C5C7CCC-FDC1-4D8F-8CA9-77F386B6EDBD}"/>
    <dgm:cxn modelId="{770CBFAA-A202-42BA-8A31-9F68ECF23FEB}" type="presOf" srcId="{E3F702B8-9F8A-46D3-8BB7-B003F475AB9E}" destId="{4E37D959-052D-4C75-ABD3-F6D9286A1805}" srcOrd="0" destOrd="0" presId="urn:microsoft.com/office/officeart/2005/8/layout/process1"/>
    <dgm:cxn modelId="{79AE3096-AD28-453F-8F0A-6446F4819013}" type="presOf" srcId="{5C5C7CCC-FDC1-4D8F-8CA9-77F386B6EDBD}" destId="{7D1110B0-21C4-4351-BB68-2F7E443978FE}" srcOrd="0" destOrd="0" presId="urn:microsoft.com/office/officeart/2005/8/layout/process1"/>
    <dgm:cxn modelId="{1E385113-A5C1-48DB-B984-2738A3D6903E}" type="presParOf" srcId="{4E37D959-052D-4C75-ABD3-F6D9286A1805}" destId="{9A783BD9-7931-48C7-9AA7-C155C9018D91}" srcOrd="0" destOrd="0" presId="urn:microsoft.com/office/officeart/2005/8/layout/process1"/>
    <dgm:cxn modelId="{6A9F8C00-8C9B-4FEB-BAA2-F913FE509729}" type="presParOf" srcId="{4E37D959-052D-4C75-ABD3-F6D9286A1805}" destId="{7D1110B0-21C4-4351-BB68-2F7E443978FE}" srcOrd="1" destOrd="0" presId="urn:microsoft.com/office/officeart/2005/8/layout/process1"/>
    <dgm:cxn modelId="{41299D87-8019-4BE0-9FB4-F8E483B5F37B}" type="presParOf" srcId="{7D1110B0-21C4-4351-BB68-2F7E443978FE}" destId="{E8A8C77E-933A-4095-9D52-E840E3C71223}" srcOrd="0" destOrd="0" presId="urn:microsoft.com/office/officeart/2005/8/layout/process1"/>
    <dgm:cxn modelId="{59D54A23-B1FA-45B3-9F6D-5F142C1777FE}" type="presParOf" srcId="{4E37D959-052D-4C75-ABD3-F6D9286A1805}" destId="{9C1E763F-08A6-4D7C-90C5-DED10BCC3BD4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783BD9-7931-48C7-9AA7-C155C9018D91}">
      <dsp:nvSpPr>
        <dsp:cNvPr id="0" name=""/>
        <dsp:cNvSpPr/>
      </dsp:nvSpPr>
      <dsp:spPr>
        <a:xfrm>
          <a:off x="320681" y="3680426"/>
          <a:ext cx="1499859" cy="14984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dirty="0"/>
            <a:t>Other Data (Weather, Location, Crop Variety, Soil Type)</a:t>
          </a:r>
        </a:p>
      </dsp:txBody>
      <dsp:txXfrm>
        <a:off x="364570" y="3724315"/>
        <a:ext cx="1412081" cy="1410716"/>
      </dsp:txXfrm>
    </dsp:sp>
    <dsp:sp modelId="{7D1110B0-21C4-4351-BB68-2F7E443978FE}">
      <dsp:nvSpPr>
        <dsp:cNvPr id="0" name=""/>
        <dsp:cNvSpPr/>
      </dsp:nvSpPr>
      <dsp:spPr>
        <a:xfrm rot="19077399">
          <a:off x="1758964" y="3109788"/>
          <a:ext cx="1529156" cy="40419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1400" kern="1200"/>
        </a:p>
      </dsp:txBody>
      <dsp:txXfrm>
        <a:off x="1774568" y="3231230"/>
        <a:ext cx="1407897" cy="242518"/>
      </dsp:txXfrm>
    </dsp:sp>
    <dsp:sp modelId="{9C1E763F-08A6-4D7C-90C5-DED10BCC3BD4}">
      <dsp:nvSpPr>
        <dsp:cNvPr id="0" name=""/>
        <dsp:cNvSpPr/>
      </dsp:nvSpPr>
      <dsp:spPr>
        <a:xfrm>
          <a:off x="3207319" y="1534439"/>
          <a:ext cx="1119550" cy="927225"/>
        </a:xfrm>
        <a:prstGeom prst="roundRect">
          <a:avLst>
            <a:gd name="adj" fmla="val 10000"/>
          </a:avLst>
        </a:prstGeom>
        <a:noFill/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1700" kern="1200" dirty="0"/>
        </a:p>
      </dsp:txBody>
      <dsp:txXfrm>
        <a:off x="3234476" y="1561596"/>
        <a:ext cx="1065236" cy="8729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783BD9-7931-48C7-9AA7-C155C9018D91}">
      <dsp:nvSpPr>
        <dsp:cNvPr id="0" name=""/>
        <dsp:cNvSpPr/>
      </dsp:nvSpPr>
      <dsp:spPr>
        <a:xfrm>
          <a:off x="320681" y="3680426"/>
          <a:ext cx="1499859" cy="14984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dirty="0"/>
            <a:t>Other Data (Weather, Location, Crop Variety, Soil Type)</a:t>
          </a:r>
        </a:p>
      </dsp:txBody>
      <dsp:txXfrm>
        <a:off x="364570" y="3724315"/>
        <a:ext cx="1412081" cy="1410716"/>
      </dsp:txXfrm>
    </dsp:sp>
    <dsp:sp modelId="{7D1110B0-21C4-4351-BB68-2F7E443978FE}">
      <dsp:nvSpPr>
        <dsp:cNvPr id="0" name=""/>
        <dsp:cNvSpPr/>
      </dsp:nvSpPr>
      <dsp:spPr>
        <a:xfrm rot="19077399">
          <a:off x="1758964" y="3109788"/>
          <a:ext cx="1529156" cy="40419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1400" kern="1200"/>
        </a:p>
      </dsp:txBody>
      <dsp:txXfrm>
        <a:off x="1774568" y="3231230"/>
        <a:ext cx="1407897" cy="242518"/>
      </dsp:txXfrm>
    </dsp:sp>
    <dsp:sp modelId="{9C1E763F-08A6-4D7C-90C5-DED10BCC3BD4}">
      <dsp:nvSpPr>
        <dsp:cNvPr id="0" name=""/>
        <dsp:cNvSpPr/>
      </dsp:nvSpPr>
      <dsp:spPr>
        <a:xfrm>
          <a:off x="3207319" y="1534439"/>
          <a:ext cx="1119550" cy="927225"/>
        </a:xfrm>
        <a:prstGeom prst="roundRect">
          <a:avLst>
            <a:gd name="adj" fmla="val 10000"/>
          </a:avLst>
        </a:prstGeom>
        <a:noFill/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1700" kern="1200" dirty="0"/>
        </a:p>
      </dsp:txBody>
      <dsp:txXfrm>
        <a:off x="3234476" y="1561596"/>
        <a:ext cx="1065236" cy="8729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D26B2-B013-4B1E-BD18-87D4CB6633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4000" dirty="0"/>
              <a:t>Using Machine Learning To Inform Plant Disease Diagnosis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D28BEA-9B2F-44E9-841D-7D7C98159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369615"/>
            <a:ext cx="7766936" cy="1096899"/>
          </a:xfrm>
        </p:spPr>
        <p:txBody>
          <a:bodyPr/>
          <a:lstStyle/>
          <a:p>
            <a:r>
              <a:rPr lang="en-GB" dirty="0"/>
              <a:t>Nick Taylor</a:t>
            </a:r>
          </a:p>
        </p:txBody>
      </p:sp>
    </p:spTree>
    <p:extLst>
      <p:ext uri="{BB962C8B-B14F-4D97-AF65-F5344CB8AC3E}">
        <p14:creationId xmlns:p14="http://schemas.microsoft.com/office/powerpoint/2010/main" val="3178281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12227-C64B-46C8-A0F4-CD0478549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2B960-3F99-4F9F-9884-3061173DE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Food security under threat from climate change, decline of pollinators, crop disorders and more</a:t>
            </a:r>
          </a:p>
          <a:p>
            <a:r>
              <a:rPr lang="en-GB" sz="2800" dirty="0"/>
              <a:t>Global food demand is expected to grow by at least 50% from 2010 to 2050</a:t>
            </a:r>
            <a:r>
              <a:rPr lang="en-GB" sz="2800" baseline="30000" dirty="0"/>
              <a:t>1 </a:t>
            </a:r>
            <a:endParaRPr lang="en-GB" sz="2800" dirty="0"/>
          </a:p>
          <a:p>
            <a:r>
              <a:rPr lang="en-GB" sz="2800" dirty="0"/>
              <a:t>At least 10% of food production globally is lost to plant disease</a:t>
            </a:r>
            <a:r>
              <a:rPr lang="en-GB" sz="2800" baseline="30000" dirty="0"/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BAEF49-634A-4A80-8595-BAAB969B7355}"/>
              </a:ext>
            </a:extLst>
          </p:cNvPr>
          <p:cNvSpPr txBox="1"/>
          <p:nvPr/>
        </p:nvSpPr>
        <p:spPr>
          <a:xfrm>
            <a:off x="757518" y="6360458"/>
            <a:ext cx="3183628" cy="6668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aseline="30000" dirty="0"/>
              <a:t>1</a:t>
            </a:r>
            <a:r>
              <a:rPr lang="en-GB" sz="1400" dirty="0"/>
              <a:t> N. </a:t>
            </a:r>
            <a:r>
              <a:rPr lang="en-GB" sz="1400" dirty="0" err="1"/>
              <a:t>Alexandratos</a:t>
            </a:r>
            <a:r>
              <a:rPr lang="en-GB" sz="1400" dirty="0"/>
              <a:t>, J. </a:t>
            </a:r>
            <a:r>
              <a:rPr lang="en-GB" sz="1400" dirty="0" err="1"/>
              <a:t>Bruinsma</a:t>
            </a:r>
            <a:r>
              <a:rPr lang="en-GB" sz="1400" dirty="0"/>
              <a:t>, et al.</a:t>
            </a:r>
          </a:p>
          <a:p>
            <a:r>
              <a:rPr lang="en-GB" sz="1400" baseline="30000" dirty="0"/>
              <a:t>2</a:t>
            </a:r>
            <a:r>
              <a:rPr lang="en-GB" sz="1400" dirty="0"/>
              <a:t> R. N. Strange and P. R. Scott</a:t>
            </a:r>
          </a:p>
          <a:p>
            <a:endParaRPr lang="en-GB" sz="1400" baseline="30000" dirty="0"/>
          </a:p>
        </p:txBody>
      </p:sp>
    </p:spTree>
    <p:extLst>
      <p:ext uri="{BB962C8B-B14F-4D97-AF65-F5344CB8AC3E}">
        <p14:creationId xmlns:p14="http://schemas.microsoft.com/office/powerpoint/2010/main" val="2591400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12227-C64B-46C8-A0F4-CD0478549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2B960-3F99-4F9F-9884-3061173DE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Disease diagnosis assistance primarily available to large-scale farmers in the developed world</a:t>
            </a:r>
          </a:p>
          <a:p>
            <a:r>
              <a:rPr lang="en-GB" sz="2400" dirty="0"/>
              <a:t>Diagnosis currently relies on expert knowledge requiring years of experience.</a:t>
            </a:r>
          </a:p>
          <a:p>
            <a:r>
              <a:rPr lang="en-GB" sz="2400" dirty="0"/>
              <a:t>Various factors considered e.g. location, weather, crop variety and susceptibility, soil type and date/growth stage</a:t>
            </a:r>
          </a:p>
          <a:p>
            <a:r>
              <a:rPr lang="en-GB" sz="2400" dirty="0"/>
              <a:t>Diagnosis is either unavailable or unaffordable in many parts of the developing world</a:t>
            </a:r>
          </a:p>
        </p:txBody>
      </p:sp>
    </p:spTree>
    <p:extLst>
      <p:ext uri="{BB962C8B-B14F-4D97-AF65-F5344CB8AC3E}">
        <p14:creationId xmlns:p14="http://schemas.microsoft.com/office/powerpoint/2010/main" val="2654131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EB257-FCE5-4B38-957D-25AB9ACDF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C865B90-7194-45C5-A471-7F1E543B09AB}"/>
              </a:ext>
            </a:extLst>
          </p:cNvPr>
          <p:cNvGrpSpPr/>
          <p:nvPr/>
        </p:nvGrpSpPr>
        <p:grpSpPr>
          <a:xfrm>
            <a:off x="958477" y="2212041"/>
            <a:ext cx="8588756" cy="991010"/>
            <a:chOff x="1025588" y="2933494"/>
            <a:chExt cx="8588756" cy="99101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B976FCF-DF3F-42BD-9BE9-6C804D8946B9}"/>
                </a:ext>
              </a:extLst>
            </p:cNvPr>
            <p:cNvSpPr/>
            <p:nvPr/>
          </p:nvSpPr>
          <p:spPr>
            <a:xfrm>
              <a:off x="1025588" y="2933494"/>
              <a:ext cx="1651683" cy="991010"/>
            </a:xfrm>
            <a:custGeom>
              <a:avLst/>
              <a:gdLst>
                <a:gd name="connsiteX0" fmla="*/ 0 w 1651683"/>
                <a:gd name="connsiteY0" fmla="*/ 99101 h 991010"/>
                <a:gd name="connsiteX1" fmla="*/ 99101 w 1651683"/>
                <a:gd name="connsiteY1" fmla="*/ 0 h 991010"/>
                <a:gd name="connsiteX2" fmla="*/ 1552582 w 1651683"/>
                <a:gd name="connsiteY2" fmla="*/ 0 h 991010"/>
                <a:gd name="connsiteX3" fmla="*/ 1651683 w 1651683"/>
                <a:gd name="connsiteY3" fmla="*/ 99101 h 991010"/>
                <a:gd name="connsiteX4" fmla="*/ 1651683 w 1651683"/>
                <a:gd name="connsiteY4" fmla="*/ 891909 h 991010"/>
                <a:gd name="connsiteX5" fmla="*/ 1552582 w 1651683"/>
                <a:gd name="connsiteY5" fmla="*/ 991010 h 991010"/>
                <a:gd name="connsiteX6" fmla="*/ 99101 w 1651683"/>
                <a:gd name="connsiteY6" fmla="*/ 991010 h 991010"/>
                <a:gd name="connsiteX7" fmla="*/ 0 w 1651683"/>
                <a:gd name="connsiteY7" fmla="*/ 891909 h 991010"/>
                <a:gd name="connsiteX8" fmla="*/ 0 w 1651683"/>
                <a:gd name="connsiteY8" fmla="*/ 99101 h 99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1683" h="991010">
                  <a:moveTo>
                    <a:pt x="0" y="99101"/>
                  </a:moveTo>
                  <a:cubicBezTo>
                    <a:pt x="0" y="44369"/>
                    <a:pt x="44369" y="0"/>
                    <a:pt x="99101" y="0"/>
                  </a:cubicBezTo>
                  <a:lnTo>
                    <a:pt x="1552582" y="0"/>
                  </a:lnTo>
                  <a:cubicBezTo>
                    <a:pt x="1607314" y="0"/>
                    <a:pt x="1651683" y="44369"/>
                    <a:pt x="1651683" y="99101"/>
                  </a:cubicBezTo>
                  <a:lnTo>
                    <a:pt x="1651683" y="891909"/>
                  </a:lnTo>
                  <a:cubicBezTo>
                    <a:pt x="1651683" y="946641"/>
                    <a:pt x="1607314" y="991010"/>
                    <a:pt x="1552582" y="991010"/>
                  </a:cubicBezTo>
                  <a:lnTo>
                    <a:pt x="99101" y="991010"/>
                  </a:lnTo>
                  <a:cubicBezTo>
                    <a:pt x="44369" y="991010"/>
                    <a:pt x="0" y="946641"/>
                    <a:pt x="0" y="891909"/>
                  </a:cubicBezTo>
                  <a:lnTo>
                    <a:pt x="0" y="9910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0466" tIns="120466" rIns="120466" bIns="12046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400" kern="1200" dirty="0"/>
                <a:t>Image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BA0C4C0-4BAE-43AF-B916-33ADC50E0B3A}"/>
                </a:ext>
              </a:extLst>
            </p:cNvPr>
            <p:cNvSpPr/>
            <p:nvPr/>
          </p:nvSpPr>
          <p:spPr>
            <a:xfrm>
              <a:off x="2840343" y="3224190"/>
              <a:ext cx="345710" cy="409617"/>
            </a:xfrm>
            <a:custGeom>
              <a:avLst/>
              <a:gdLst>
                <a:gd name="connsiteX0" fmla="*/ 0 w 345710"/>
                <a:gd name="connsiteY0" fmla="*/ 81923 h 409617"/>
                <a:gd name="connsiteX1" fmla="*/ 172855 w 345710"/>
                <a:gd name="connsiteY1" fmla="*/ 81923 h 409617"/>
                <a:gd name="connsiteX2" fmla="*/ 172855 w 345710"/>
                <a:gd name="connsiteY2" fmla="*/ 0 h 409617"/>
                <a:gd name="connsiteX3" fmla="*/ 345710 w 345710"/>
                <a:gd name="connsiteY3" fmla="*/ 204809 h 409617"/>
                <a:gd name="connsiteX4" fmla="*/ 172855 w 345710"/>
                <a:gd name="connsiteY4" fmla="*/ 409617 h 409617"/>
                <a:gd name="connsiteX5" fmla="*/ 172855 w 345710"/>
                <a:gd name="connsiteY5" fmla="*/ 327694 h 409617"/>
                <a:gd name="connsiteX6" fmla="*/ 0 w 345710"/>
                <a:gd name="connsiteY6" fmla="*/ 327694 h 409617"/>
                <a:gd name="connsiteX7" fmla="*/ 0 w 345710"/>
                <a:gd name="connsiteY7" fmla="*/ 81923 h 409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5710" h="409617">
                  <a:moveTo>
                    <a:pt x="0" y="81923"/>
                  </a:moveTo>
                  <a:lnTo>
                    <a:pt x="172855" y="81923"/>
                  </a:lnTo>
                  <a:lnTo>
                    <a:pt x="172855" y="0"/>
                  </a:lnTo>
                  <a:lnTo>
                    <a:pt x="345710" y="204809"/>
                  </a:lnTo>
                  <a:lnTo>
                    <a:pt x="172855" y="409617"/>
                  </a:lnTo>
                  <a:lnTo>
                    <a:pt x="172855" y="327694"/>
                  </a:lnTo>
                  <a:lnTo>
                    <a:pt x="0" y="327694"/>
                  </a:lnTo>
                  <a:lnTo>
                    <a:pt x="0" y="81923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81923" rIns="103713" bIns="81923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800" kern="12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8AEBA76-84F1-4010-ACE9-DBE63D74DDF6}"/>
                </a:ext>
              </a:extLst>
            </p:cNvPr>
            <p:cNvSpPr/>
            <p:nvPr/>
          </p:nvSpPr>
          <p:spPr>
            <a:xfrm>
              <a:off x="3329555" y="2933494"/>
              <a:ext cx="1651683" cy="991010"/>
            </a:xfrm>
            <a:custGeom>
              <a:avLst/>
              <a:gdLst>
                <a:gd name="connsiteX0" fmla="*/ 0 w 1651683"/>
                <a:gd name="connsiteY0" fmla="*/ 99101 h 991010"/>
                <a:gd name="connsiteX1" fmla="*/ 99101 w 1651683"/>
                <a:gd name="connsiteY1" fmla="*/ 0 h 991010"/>
                <a:gd name="connsiteX2" fmla="*/ 1552582 w 1651683"/>
                <a:gd name="connsiteY2" fmla="*/ 0 h 991010"/>
                <a:gd name="connsiteX3" fmla="*/ 1651683 w 1651683"/>
                <a:gd name="connsiteY3" fmla="*/ 99101 h 991010"/>
                <a:gd name="connsiteX4" fmla="*/ 1651683 w 1651683"/>
                <a:gd name="connsiteY4" fmla="*/ 891909 h 991010"/>
                <a:gd name="connsiteX5" fmla="*/ 1552582 w 1651683"/>
                <a:gd name="connsiteY5" fmla="*/ 991010 h 991010"/>
                <a:gd name="connsiteX6" fmla="*/ 99101 w 1651683"/>
                <a:gd name="connsiteY6" fmla="*/ 991010 h 991010"/>
                <a:gd name="connsiteX7" fmla="*/ 0 w 1651683"/>
                <a:gd name="connsiteY7" fmla="*/ 891909 h 991010"/>
                <a:gd name="connsiteX8" fmla="*/ 0 w 1651683"/>
                <a:gd name="connsiteY8" fmla="*/ 99101 h 99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1683" h="991010">
                  <a:moveTo>
                    <a:pt x="0" y="99101"/>
                  </a:moveTo>
                  <a:cubicBezTo>
                    <a:pt x="0" y="44369"/>
                    <a:pt x="44369" y="0"/>
                    <a:pt x="99101" y="0"/>
                  </a:cubicBezTo>
                  <a:lnTo>
                    <a:pt x="1552582" y="0"/>
                  </a:lnTo>
                  <a:cubicBezTo>
                    <a:pt x="1607314" y="0"/>
                    <a:pt x="1651683" y="44369"/>
                    <a:pt x="1651683" y="99101"/>
                  </a:cubicBezTo>
                  <a:lnTo>
                    <a:pt x="1651683" y="891909"/>
                  </a:lnTo>
                  <a:cubicBezTo>
                    <a:pt x="1651683" y="946641"/>
                    <a:pt x="1607314" y="991010"/>
                    <a:pt x="1552582" y="991010"/>
                  </a:cubicBezTo>
                  <a:lnTo>
                    <a:pt x="99101" y="991010"/>
                  </a:lnTo>
                  <a:cubicBezTo>
                    <a:pt x="44369" y="991010"/>
                    <a:pt x="0" y="946641"/>
                    <a:pt x="0" y="891909"/>
                  </a:cubicBezTo>
                  <a:lnTo>
                    <a:pt x="0" y="9910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0466" tIns="120466" rIns="120466" bIns="12046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400" kern="1200" dirty="0"/>
                <a:t>CNN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08A6E6B-385A-4D50-8BC3-6210A8AFE174}"/>
                </a:ext>
              </a:extLst>
            </p:cNvPr>
            <p:cNvSpPr/>
            <p:nvPr/>
          </p:nvSpPr>
          <p:spPr>
            <a:xfrm>
              <a:off x="5148505" y="3224190"/>
              <a:ext cx="354603" cy="409617"/>
            </a:xfrm>
            <a:custGeom>
              <a:avLst/>
              <a:gdLst>
                <a:gd name="connsiteX0" fmla="*/ 0 w 354603"/>
                <a:gd name="connsiteY0" fmla="*/ 81923 h 409617"/>
                <a:gd name="connsiteX1" fmla="*/ 177302 w 354603"/>
                <a:gd name="connsiteY1" fmla="*/ 81923 h 409617"/>
                <a:gd name="connsiteX2" fmla="*/ 177302 w 354603"/>
                <a:gd name="connsiteY2" fmla="*/ 0 h 409617"/>
                <a:gd name="connsiteX3" fmla="*/ 354603 w 354603"/>
                <a:gd name="connsiteY3" fmla="*/ 204809 h 409617"/>
                <a:gd name="connsiteX4" fmla="*/ 177302 w 354603"/>
                <a:gd name="connsiteY4" fmla="*/ 409617 h 409617"/>
                <a:gd name="connsiteX5" fmla="*/ 177302 w 354603"/>
                <a:gd name="connsiteY5" fmla="*/ 327694 h 409617"/>
                <a:gd name="connsiteX6" fmla="*/ 0 w 354603"/>
                <a:gd name="connsiteY6" fmla="*/ 327694 h 409617"/>
                <a:gd name="connsiteX7" fmla="*/ 0 w 354603"/>
                <a:gd name="connsiteY7" fmla="*/ 81923 h 409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4603" h="409617">
                  <a:moveTo>
                    <a:pt x="0" y="81923"/>
                  </a:moveTo>
                  <a:lnTo>
                    <a:pt x="177302" y="81923"/>
                  </a:lnTo>
                  <a:lnTo>
                    <a:pt x="177302" y="0"/>
                  </a:lnTo>
                  <a:lnTo>
                    <a:pt x="354603" y="204809"/>
                  </a:lnTo>
                  <a:lnTo>
                    <a:pt x="177302" y="409617"/>
                  </a:lnTo>
                  <a:lnTo>
                    <a:pt x="177302" y="327694"/>
                  </a:lnTo>
                  <a:lnTo>
                    <a:pt x="0" y="327694"/>
                  </a:lnTo>
                  <a:lnTo>
                    <a:pt x="0" y="81923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81923" rIns="106381" bIns="81923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800" kern="12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73BC473-5AAB-4DB5-8929-026CE690AE9C}"/>
                </a:ext>
              </a:extLst>
            </p:cNvPr>
            <p:cNvSpPr/>
            <p:nvPr/>
          </p:nvSpPr>
          <p:spPr>
            <a:xfrm>
              <a:off x="5650303" y="2933494"/>
              <a:ext cx="1651683" cy="991010"/>
            </a:xfrm>
            <a:custGeom>
              <a:avLst/>
              <a:gdLst>
                <a:gd name="connsiteX0" fmla="*/ 0 w 1651683"/>
                <a:gd name="connsiteY0" fmla="*/ 99101 h 991010"/>
                <a:gd name="connsiteX1" fmla="*/ 99101 w 1651683"/>
                <a:gd name="connsiteY1" fmla="*/ 0 h 991010"/>
                <a:gd name="connsiteX2" fmla="*/ 1552582 w 1651683"/>
                <a:gd name="connsiteY2" fmla="*/ 0 h 991010"/>
                <a:gd name="connsiteX3" fmla="*/ 1651683 w 1651683"/>
                <a:gd name="connsiteY3" fmla="*/ 99101 h 991010"/>
                <a:gd name="connsiteX4" fmla="*/ 1651683 w 1651683"/>
                <a:gd name="connsiteY4" fmla="*/ 891909 h 991010"/>
                <a:gd name="connsiteX5" fmla="*/ 1552582 w 1651683"/>
                <a:gd name="connsiteY5" fmla="*/ 991010 h 991010"/>
                <a:gd name="connsiteX6" fmla="*/ 99101 w 1651683"/>
                <a:gd name="connsiteY6" fmla="*/ 991010 h 991010"/>
                <a:gd name="connsiteX7" fmla="*/ 0 w 1651683"/>
                <a:gd name="connsiteY7" fmla="*/ 891909 h 991010"/>
                <a:gd name="connsiteX8" fmla="*/ 0 w 1651683"/>
                <a:gd name="connsiteY8" fmla="*/ 99101 h 99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1683" h="991010">
                  <a:moveTo>
                    <a:pt x="0" y="99101"/>
                  </a:moveTo>
                  <a:cubicBezTo>
                    <a:pt x="0" y="44369"/>
                    <a:pt x="44369" y="0"/>
                    <a:pt x="99101" y="0"/>
                  </a:cubicBezTo>
                  <a:lnTo>
                    <a:pt x="1552582" y="0"/>
                  </a:lnTo>
                  <a:cubicBezTo>
                    <a:pt x="1607314" y="0"/>
                    <a:pt x="1651683" y="44369"/>
                    <a:pt x="1651683" y="99101"/>
                  </a:cubicBezTo>
                  <a:lnTo>
                    <a:pt x="1651683" y="891909"/>
                  </a:lnTo>
                  <a:cubicBezTo>
                    <a:pt x="1651683" y="946641"/>
                    <a:pt x="1607314" y="991010"/>
                    <a:pt x="1552582" y="991010"/>
                  </a:cubicBezTo>
                  <a:lnTo>
                    <a:pt x="99101" y="991010"/>
                  </a:lnTo>
                  <a:cubicBezTo>
                    <a:pt x="44369" y="991010"/>
                    <a:pt x="0" y="946641"/>
                    <a:pt x="0" y="891909"/>
                  </a:cubicBezTo>
                  <a:lnTo>
                    <a:pt x="0" y="9910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0466" tIns="120466" rIns="120466" bIns="12046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400" kern="1200" dirty="0"/>
                <a:t>SVM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353EB26-BDC1-4C38-A00E-57B9C66E9166}"/>
                </a:ext>
              </a:extLst>
            </p:cNvPr>
            <p:cNvSpPr/>
            <p:nvPr/>
          </p:nvSpPr>
          <p:spPr>
            <a:xfrm>
              <a:off x="7467156" y="3224190"/>
              <a:ext cx="350157" cy="409617"/>
            </a:xfrm>
            <a:custGeom>
              <a:avLst/>
              <a:gdLst>
                <a:gd name="connsiteX0" fmla="*/ 0 w 350157"/>
                <a:gd name="connsiteY0" fmla="*/ 81923 h 409617"/>
                <a:gd name="connsiteX1" fmla="*/ 175079 w 350157"/>
                <a:gd name="connsiteY1" fmla="*/ 81923 h 409617"/>
                <a:gd name="connsiteX2" fmla="*/ 175079 w 350157"/>
                <a:gd name="connsiteY2" fmla="*/ 0 h 409617"/>
                <a:gd name="connsiteX3" fmla="*/ 350157 w 350157"/>
                <a:gd name="connsiteY3" fmla="*/ 204809 h 409617"/>
                <a:gd name="connsiteX4" fmla="*/ 175079 w 350157"/>
                <a:gd name="connsiteY4" fmla="*/ 409617 h 409617"/>
                <a:gd name="connsiteX5" fmla="*/ 175079 w 350157"/>
                <a:gd name="connsiteY5" fmla="*/ 327694 h 409617"/>
                <a:gd name="connsiteX6" fmla="*/ 0 w 350157"/>
                <a:gd name="connsiteY6" fmla="*/ 327694 h 409617"/>
                <a:gd name="connsiteX7" fmla="*/ 0 w 350157"/>
                <a:gd name="connsiteY7" fmla="*/ 81923 h 409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0157" h="409617">
                  <a:moveTo>
                    <a:pt x="0" y="81923"/>
                  </a:moveTo>
                  <a:lnTo>
                    <a:pt x="175079" y="81923"/>
                  </a:lnTo>
                  <a:lnTo>
                    <a:pt x="175079" y="0"/>
                  </a:lnTo>
                  <a:lnTo>
                    <a:pt x="350157" y="204809"/>
                  </a:lnTo>
                  <a:lnTo>
                    <a:pt x="175079" y="409617"/>
                  </a:lnTo>
                  <a:lnTo>
                    <a:pt x="175079" y="327694"/>
                  </a:lnTo>
                  <a:lnTo>
                    <a:pt x="0" y="327694"/>
                  </a:lnTo>
                  <a:lnTo>
                    <a:pt x="0" y="81923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81923" rIns="105047" bIns="81923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800" kern="12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B0DA87B-AF0F-492E-B24F-62F169C03CF6}"/>
                </a:ext>
              </a:extLst>
            </p:cNvPr>
            <p:cNvSpPr/>
            <p:nvPr/>
          </p:nvSpPr>
          <p:spPr>
            <a:xfrm>
              <a:off x="7962661" y="2933494"/>
              <a:ext cx="1651683" cy="991010"/>
            </a:xfrm>
            <a:custGeom>
              <a:avLst/>
              <a:gdLst>
                <a:gd name="connsiteX0" fmla="*/ 0 w 1651683"/>
                <a:gd name="connsiteY0" fmla="*/ 99101 h 991010"/>
                <a:gd name="connsiteX1" fmla="*/ 99101 w 1651683"/>
                <a:gd name="connsiteY1" fmla="*/ 0 h 991010"/>
                <a:gd name="connsiteX2" fmla="*/ 1552582 w 1651683"/>
                <a:gd name="connsiteY2" fmla="*/ 0 h 991010"/>
                <a:gd name="connsiteX3" fmla="*/ 1651683 w 1651683"/>
                <a:gd name="connsiteY3" fmla="*/ 99101 h 991010"/>
                <a:gd name="connsiteX4" fmla="*/ 1651683 w 1651683"/>
                <a:gd name="connsiteY4" fmla="*/ 891909 h 991010"/>
                <a:gd name="connsiteX5" fmla="*/ 1552582 w 1651683"/>
                <a:gd name="connsiteY5" fmla="*/ 991010 h 991010"/>
                <a:gd name="connsiteX6" fmla="*/ 99101 w 1651683"/>
                <a:gd name="connsiteY6" fmla="*/ 991010 h 991010"/>
                <a:gd name="connsiteX7" fmla="*/ 0 w 1651683"/>
                <a:gd name="connsiteY7" fmla="*/ 891909 h 991010"/>
                <a:gd name="connsiteX8" fmla="*/ 0 w 1651683"/>
                <a:gd name="connsiteY8" fmla="*/ 99101 h 99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1683" h="991010">
                  <a:moveTo>
                    <a:pt x="0" y="99101"/>
                  </a:moveTo>
                  <a:cubicBezTo>
                    <a:pt x="0" y="44369"/>
                    <a:pt x="44369" y="0"/>
                    <a:pt x="99101" y="0"/>
                  </a:cubicBezTo>
                  <a:lnTo>
                    <a:pt x="1552582" y="0"/>
                  </a:lnTo>
                  <a:cubicBezTo>
                    <a:pt x="1607314" y="0"/>
                    <a:pt x="1651683" y="44369"/>
                    <a:pt x="1651683" y="99101"/>
                  </a:cubicBezTo>
                  <a:lnTo>
                    <a:pt x="1651683" y="891909"/>
                  </a:lnTo>
                  <a:cubicBezTo>
                    <a:pt x="1651683" y="946641"/>
                    <a:pt x="1607314" y="991010"/>
                    <a:pt x="1552582" y="991010"/>
                  </a:cubicBezTo>
                  <a:lnTo>
                    <a:pt x="99101" y="991010"/>
                  </a:lnTo>
                  <a:cubicBezTo>
                    <a:pt x="44369" y="991010"/>
                    <a:pt x="0" y="946641"/>
                    <a:pt x="0" y="891909"/>
                  </a:cubicBezTo>
                  <a:lnTo>
                    <a:pt x="0" y="9910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0466" tIns="120466" rIns="120466" bIns="12046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400" kern="1200" dirty="0"/>
                <a:t>Prediction</a:t>
              </a:r>
            </a:p>
          </p:txBody>
        </p:sp>
      </p:grp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21519506-271A-484C-AB5E-8F28D1DD28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989577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91E118B-C366-4A27-BDA1-06863DE3ACED}"/>
              </a:ext>
            </a:extLst>
          </p:cNvPr>
          <p:cNvSpPr txBox="1"/>
          <p:nvPr/>
        </p:nvSpPr>
        <p:spPr>
          <a:xfrm>
            <a:off x="3169276" y="1938789"/>
            <a:ext cx="4163841" cy="149860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433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machine learning">
            <a:extLst>
              <a:ext uri="{FF2B5EF4-FFF2-40B4-BE49-F238E27FC236}">
                <a16:creationId xmlns:a16="http://schemas.microsoft.com/office/drawing/2014/main" id="{81747B20-332F-4D28-AE0D-7E79443538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7" r="27181" b="-1"/>
          <a:stretch/>
        </p:blipFill>
        <p:spPr bwMode="auto">
          <a:xfrm>
            <a:off x="4269854" y="-1"/>
            <a:ext cx="7922146" cy="6858001"/>
          </a:xfrm>
          <a:custGeom>
            <a:avLst/>
            <a:gdLst>
              <a:gd name="connsiteX0" fmla="*/ 379987 w 7922146"/>
              <a:gd name="connsiteY0" fmla="*/ 0 h 6858001"/>
              <a:gd name="connsiteX1" fmla="*/ 5304971 w 7922146"/>
              <a:gd name="connsiteY1" fmla="*/ 0 h 6858001"/>
              <a:gd name="connsiteX2" fmla="*/ 7065281 w 7922146"/>
              <a:gd name="connsiteY2" fmla="*/ 0 h 6858001"/>
              <a:gd name="connsiteX3" fmla="*/ 7397540 w 7922146"/>
              <a:gd name="connsiteY3" fmla="*/ 0 h 6858001"/>
              <a:gd name="connsiteX4" fmla="*/ 7397540 w 7922146"/>
              <a:gd name="connsiteY4" fmla="*/ 1 h 6858001"/>
              <a:gd name="connsiteX5" fmla="*/ 7922146 w 7922146"/>
              <a:gd name="connsiteY5" fmla="*/ 1 h 6858001"/>
              <a:gd name="connsiteX6" fmla="*/ 7922146 w 7922146"/>
              <a:gd name="connsiteY6" fmla="*/ 6858001 h 6858001"/>
              <a:gd name="connsiteX7" fmla="*/ 7065281 w 7922146"/>
              <a:gd name="connsiteY7" fmla="*/ 6858001 h 6858001"/>
              <a:gd name="connsiteX8" fmla="*/ 7065281 w 7922146"/>
              <a:gd name="connsiteY8" fmla="*/ 6858000 h 6858001"/>
              <a:gd name="connsiteX9" fmla="*/ 5932989 w 7922146"/>
              <a:gd name="connsiteY9" fmla="*/ 6858000 h 6858001"/>
              <a:gd name="connsiteX10" fmla="*/ 5932989 w 7922146"/>
              <a:gd name="connsiteY10" fmla="*/ 6858001 h 6858001"/>
              <a:gd name="connsiteX11" fmla="*/ 27809 w 7922146"/>
              <a:gd name="connsiteY11" fmla="*/ 6858001 h 6858001"/>
              <a:gd name="connsiteX12" fmla="*/ 1803228 w 7922146"/>
              <a:gd name="connsiteY12" fmla="*/ 4521201 h 6858001"/>
              <a:gd name="connsiteX13" fmla="*/ 0 w 7922146"/>
              <a:gd name="connsiteY13" fmla="*/ 0 h 6858001"/>
              <a:gd name="connsiteX14" fmla="*/ 379987 w 7922146"/>
              <a:gd name="connsiteY14" fmla="*/ 0 h 6858001"/>
              <a:gd name="connsiteX15" fmla="*/ 0 w 7922146"/>
              <a:gd name="connsiteY15" fmla="*/ 407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12227-C64B-46C8-A0F4-CD0478549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en-GB"/>
              <a:t>Machine Learning Background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2B960-3F99-4F9F-9884-3061173DE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/>
          </a:bodyPr>
          <a:lstStyle/>
          <a:p>
            <a:r>
              <a:rPr lang="en-GB"/>
              <a:t>Enabling a computer to achieve a task without explicit programming</a:t>
            </a:r>
          </a:p>
          <a:p>
            <a:r>
              <a:rPr lang="en-GB"/>
              <a:t>E.g. fruit classification, movie review classification, Boston house price predictor</a:t>
            </a:r>
          </a:p>
          <a:p>
            <a:endParaRPr lang="en-GB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7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9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1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3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5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7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32930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12227-C64B-46C8-A0F4-CD0478549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2B960-3F99-4F9F-9884-3061173DE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Image classification is one of machine learning’s great successes (e.g. facial recognition, driverless cars)</a:t>
            </a:r>
          </a:p>
          <a:p>
            <a:r>
              <a:rPr lang="en-GB" sz="2400" dirty="0"/>
              <a:t>Learn statistical patterns based on a training data set (labelled data)</a:t>
            </a:r>
          </a:p>
          <a:p>
            <a:r>
              <a:rPr lang="en-GB" sz="2400" dirty="0"/>
              <a:t>Then test the resulting model on a validation data set (predict for new unseen data, and see how the model performs)</a:t>
            </a:r>
          </a:p>
        </p:txBody>
      </p:sp>
    </p:spTree>
    <p:extLst>
      <p:ext uri="{BB962C8B-B14F-4D97-AF65-F5344CB8AC3E}">
        <p14:creationId xmlns:p14="http://schemas.microsoft.com/office/powerpoint/2010/main" val="2041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12227-C64B-46C8-A0F4-CD0478549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Systems Exist Currently?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2B960-3F99-4F9F-9884-3061173DE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There exist models that use weather data or categorical data to assess disease risk</a:t>
            </a:r>
          </a:p>
          <a:p>
            <a:r>
              <a:rPr lang="en-GB" sz="2000" dirty="0"/>
              <a:t>There exist some very advanced image classification systems, (e.g. using </a:t>
            </a:r>
            <a:r>
              <a:rPr lang="en-GB" sz="2000" dirty="0" err="1"/>
              <a:t>PlantVillage</a:t>
            </a:r>
            <a:r>
              <a:rPr lang="en-GB" sz="2000" dirty="0"/>
              <a:t> open access database of 54,306 images, CNN trained to identify 14 crops diseases and 26 species</a:t>
            </a:r>
            <a:r>
              <a:rPr lang="en-GB" sz="2000" baseline="30000" dirty="0"/>
              <a:t>3</a:t>
            </a:r>
            <a:r>
              <a:rPr lang="en-GB" sz="2000" dirty="0"/>
              <a:t>), achieving an accuracy of 99.35% on a validation set. Can run on a smartphone</a:t>
            </a:r>
          </a:p>
          <a:p>
            <a:r>
              <a:rPr lang="en-GB" sz="2000" dirty="0" err="1"/>
              <a:t>Xarvio</a:t>
            </a:r>
            <a:r>
              <a:rPr lang="en-GB" sz="2000" dirty="0"/>
              <a:t> smartphone app</a:t>
            </a:r>
          </a:p>
          <a:p>
            <a:r>
              <a:rPr lang="en-GB" sz="2000" dirty="0"/>
              <a:t>However, model has reduced accuracy on more varied images</a:t>
            </a:r>
          </a:p>
          <a:p>
            <a:r>
              <a:rPr lang="en-GB" sz="2000" dirty="0"/>
              <a:t>Potential to combine the two approaches</a:t>
            </a:r>
          </a:p>
          <a:p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4239C8-BF24-4F32-A877-AC21BAD3688B}"/>
              </a:ext>
            </a:extLst>
          </p:cNvPr>
          <p:cNvSpPr txBox="1"/>
          <p:nvPr/>
        </p:nvSpPr>
        <p:spPr>
          <a:xfrm>
            <a:off x="677334" y="6324599"/>
            <a:ext cx="3724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aseline="30000" dirty="0"/>
              <a:t>3</a:t>
            </a:r>
            <a:r>
              <a:rPr lang="en-GB" sz="1400" dirty="0"/>
              <a:t> S. P. Mohanty, D. P Hughes, and M. </a:t>
            </a:r>
            <a:r>
              <a:rPr lang="en-GB" sz="1400" dirty="0" err="1"/>
              <a:t>Salathé</a:t>
            </a:r>
            <a:endParaRPr lang="en-GB" sz="1400" dirty="0"/>
          </a:p>
        </p:txBody>
      </p:sp>
      <p:pic>
        <p:nvPicPr>
          <p:cNvPr id="3074" name="Picture 2" descr="Image result for xarvio smartphone app">
            <a:extLst>
              <a:ext uri="{FF2B5EF4-FFF2-40B4-BE49-F238E27FC236}">
                <a16:creationId xmlns:a16="http://schemas.microsoft.com/office/drawing/2014/main" id="{22312635-442C-4206-8716-91EEB97435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60" r="12843"/>
          <a:stretch/>
        </p:blipFill>
        <p:spPr bwMode="auto">
          <a:xfrm>
            <a:off x="8781142" y="4242916"/>
            <a:ext cx="3410858" cy="257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9332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12227-C64B-46C8-A0F4-CD0478549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Learning-Initial Trials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2B960-3F99-4F9F-9884-3061173DE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Fruit classifier achieves accuracy of close to 100%</a:t>
            </a:r>
          </a:p>
          <a:p>
            <a:r>
              <a:rPr lang="en-GB" sz="2400" dirty="0"/>
              <a:t>Crop disease classification a harder problem – type of image/object detection</a:t>
            </a:r>
          </a:p>
        </p:txBody>
      </p:sp>
      <p:pic>
        <p:nvPicPr>
          <p:cNvPr id="1026" name="Picture 2" descr="Image result for wheat disease symptom">
            <a:extLst>
              <a:ext uri="{FF2B5EF4-FFF2-40B4-BE49-F238E27FC236}">
                <a16:creationId xmlns:a16="http://schemas.microsoft.com/office/drawing/2014/main" id="{6886D8AC-C397-401B-A123-F8CE5E8E8C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88" b="38511"/>
          <a:stretch/>
        </p:blipFill>
        <p:spPr bwMode="auto">
          <a:xfrm>
            <a:off x="448436" y="4272425"/>
            <a:ext cx="5663374" cy="204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yellow rust symptom">
            <a:extLst>
              <a:ext uri="{FF2B5EF4-FFF2-40B4-BE49-F238E27FC236}">
                <a16:creationId xmlns:a16="http://schemas.microsoft.com/office/drawing/2014/main" id="{0176EB34-99EF-45A5-94A2-76FD9D8FC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212" y="3251200"/>
            <a:ext cx="5410200" cy="360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5300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12227-C64B-46C8-A0F4-CD0478549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2B960-3F99-4F9F-9884-3061173DE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Train an image classifier to identify the images and produce a score ranking the appearance of visual symptoms</a:t>
            </a:r>
          </a:p>
          <a:p>
            <a:r>
              <a:rPr lang="en-GB" sz="2400" dirty="0"/>
              <a:t>Feed this output as one of many inputs into another classifier, to obtain a more informed prediction, minimise risks of incorrect diagnosis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39E28F-C7F6-497A-86B8-8BCE5EDA8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4927601"/>
            <a:ext cx="10480738" cy="122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33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EB257-FCE5-4B38-957D-25AB9ACDF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C865B90-7194-45C5-A471-7F1E543B09AB}"/>
              </a:ext>
            </a:extLst>
          </p:cNvPr>
          <p:cNvGrpSpPr/>
          <p:nvPr/>
        </p:nvGrpSpPr>
        <p:grpSpPr>
          <a:xfrm>
            <a:off x="958477" y="2212041"/>
            <a:ext cx="8588756" cy="991010"/>
            <a:chOff x="1025588" y="2933494"/>
            <a:chExt cx="8588756" cy="99101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B976FCF-DF3F-42BD-9BE9-6C804D8946B9}"/>
                </a:ext>
              </a:extLst>
            </p:cNvPr>
            <p:cNvSpPr/>
            <p:nvPr/>
          </p:nvSpPr>
          <p:spPr>
            <a:xfrm>
              <a:off x="1025588" y="2933494"/>
              <a:ext cx="1651683" cy="991010"/>
            </a:xfrm>
            <a:custGeom>
              <a:avLst/>
              <a:gdLst>
                <a:gd name="connsiteX0" fmla="*/ 0 w 1651683"/>
                <a:gd name="connsiteY0" fmla="*/ 99101 h 991010"/>
                <a:gd name="connsiteX1" fmla="*/ 99101 w 1651683"/>
                <a:gd name="connsiteY1" fmla="*/ 0 h 991010"/>
                <a:gd name="connsiteX2" fmla="*/ 1552582 w 1651683"/>
                <a:gd name="connsiteY2" fmla="*/ 0 h 991010"/>
                <a:gd name="connsiteX3" fmla="*/ 1651683 w 1651683"/>
                <a:gd name="connsiteY3" fmla="*/ 99101 h 991010"/>
                <a:gd name="connsiteX4" fmla="*/ 1651683 w 1651683"/>
                <a:gd name="connsiteY4" fmla="*/ 891909 h 991010"/>
                <a:gd name="connsiteX5" fmla="*/ 1552582 w 1651683"/>
                <a:gd name="connsiteY5" fmla="*/ 991010 h 991010"/>
                <a:gd name="connsiteX6" fmla="*/ 99101 w 1651683"/>
                <a:gd name="connsiteY6" fmla="*/ 991010 h 991010"/>
                <a:gd name="connsiteX7" fmla="*/ 0 w 1651683"/>
                <a:gd name="connsiteY7" fmla="*/ 891909 h 991010"/>
                <a:gd name="connsiteX8" fmla="*/ 0 w 1651683"/>
                <a:gd name="connsiteY8" fmla="*/ 99101 h 99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1683" h="991010">
                  <a:moveTo>
                    <a:pt x="0" y="99101"/>
                  </a:moveTo>
                  <a:cubicBezTo>
                    <a:pt x="0" y="44369"/>
                    <a:pt x="44369" y="0"/>
                    <a:pt x="99101" y="0"/>
                  </a:cubicBezTo>
                  <a:lnTo>
                    <a:pt x="1552582" y="0"/>
                  </a:lnTo>
                  <a:cubicBezTo>
                    <a:pt x="1607314" y="0"/>
                    <a:pt x="1651683" y="44369"/>
                    <a:pt x="1651683" y="99101"/>
                  </a:cubicBezTo>
                  <a:lnTo>
                    <a:pt x="1651683" y="891909"/>
                  </a:lnTo>
                  <a:cubicBezTo>
                    <a:pt x="1651683" y="946641"/>
                    <a:pt x="1607314" y="991010"/>
                    <a:pt x="1552582" y="991010"/>
                  </a:cubicBezTo>
                  <a:lnTo>
                    <a:pt x="99101" y="991010"/>
                  </a:lnTo>
                  <a:cubicBezTo>
                    <a:pt x="44369" y="991010"/>
                    <a:pt x="0" y="946641"/>
                    <a:pt x="0" y="891909"/>
                  </a:cubicBezTo>
                  <a:lnTo>
                    <a:pt x="0" y="9910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0466" tIns="120466" rIns="120466" bIns="12046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400" kern="1200" dirty="0"/>
                <a:t>Image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BA0C4C0-4BAE-43AF-B916-33ADC50E0B3A}"/>
                </a:ext>
              </a:extLst>
            </p:cNvPr>
            <p:cNvSpPr/>
            <p:nvPr/>
          </p:nvSpPr>
          <p:spPr>
            <a:xfrm>
              <a:off x="2840343" y="3224190"/>
              <a:ext cx="345710" cy="409617"/>
            </a:xfrm>
            <a:custGeom>
              <a:avLst/>
              <a:gdLst>
                <a:gd name="connsiteX0" fmla="*/ 0 w 345710"/>
                <a:gd name="connsiteY0" fmla="*/ 81923 h 409617"/>
                <a:gd name="connsiteX1" fmla="*/ 172855 w 345710"/>
                <a:gd name="connsiteY1" fmla="*/ 81923 h 409617"/>
                <a:gd name="connsiteX2" fmla="*/ 172855 w 345710"/>
                <a:gd name="connsiteY2" fmla="*/ 0 h 409617"/>
                <a:gd name="connsiteX3" fmla="*/ 345710 w 345710"/>
                <a:gd name="connsiteY3" fmla="*/ 204809 h 409617"/>
                <a:gd name="connsiteX4" fmla="*/ 172855 w 345710"/>
                <a:gd name="connsiteY4" fmla="*/ 409617 h 409617"/>
                <a:gd name="connsiteX5" fmla="*/ 172855 w 345710"/>
                <a:gd name="connsiteY5" fmla="*/ 327694 h 409617"/>
                <a:gd name="connsiteX6" fmla="*/ 0 w 345710"/>
                <a:gd name="connsiteY6" fmla="*/ 327694 h 409617"/>
                <a:gd name="connsiteX7" fmla="*/ 0 w 345710"/>
                <a:gd name="connsiteY7" fmla="*/ 81923 h 409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5710" h="409617">
                  <a:moveTo>
                    <a:pt x="0" y="81923"/>
                  </a:moveTo>
                  <a:lnTo>
                    <a:pt x="172855" y="81923"/>
                  </a:lnTo>
                  <a:lnTo>
                    <a:pt x="172855" y="0"/>
                  </a:lnTo>
                  <a:lnTo>
                    <a:pt x="345710" y="204809"/>
                  </a:lnTo>
                  <a:lnTo>
                    <a:pt x="172855" y="409617"/>
                  </a:lnTo>
                  <a:lnTo>
                    <a:pt x="172855" y="327694"/>
                  </a:lnTo>
                  <a:lnTo>
                    <a:pt x="0" y="327694"/>
                  </a:lnTo>
                  <a:lnTo>
                    <a:pt x="0" y="81923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81923" rIns="103713" bIns="81923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800" kern="12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8AEBA76-84F1-4010-ACE9-DBE63D74DDF6}"/>
                </a:ext>
              </a:extLst>
            </p:cNvPr>
            <p:cNvSpPr/>
            <p:nvPr/>
          </p:nvSpPr>
          <p:spPr>
            <a:xfrm>
              <a:off x="3329555" y="2933494"/>
              <a:ext cx="1651683" cy="991010"/>
            </a:xfrm>
            <a:custGeom>
              <a:avLst/>
              <a:gdLst>
                <a:gd name="connsiteX0" fmla="*/ 0 w 1651683"/>
                <a:gd name="connsiteY0" fmla="*/ 99101 h 991010"/>
                <a:gd name="connsiteX1" fmla="*/ 99101 w 1651683"/>
                <a:gd name="connsiteY1" fmla="*/ 0 h 991010"/>
                <a:gd name="connsiteX2" fmla="*/ 1552582 w 1651683"/>
                <a:gd name="connsiteY2" fmla="*/ 0 h 991010"/>
                <a:gd name="connsiteX3" fmla="*/ 1651683 w 1651683"/>
                <a:gd name="connsiteY3" fmla="*/ 99101 h 991010"/>
                <a:gd name="connsiteX4" fmla="*/ 1651683 w 1651683"/>
                <a:gd name="connsiteY4" fmla="*/ 891909 h 991010"/>
                <a:gd name="connsiteX5" fmla="*/ 1552582 w 1651683"/>
                <a:gd name="connsiteY5" fmla="*/ 991010 h 991010"/>
                <a:gd name="connsiteX6" fmla="*/ 99101 w 1651683"/>
                <a:gd name="connsiteY6" fmla="*/ 991010 h 991010"/>
                <a:gd name="connsiteX7" fmla="*/ 0 w 1651683"/>
                <a:gd name="connsiteY7" fmla="*/ 891909 h 991010"/>
                <a:gd name="connsiteX8" fmla="*/ 0 w 1651683"/>
                <a:gd name="connsiteY8" fmla="*/ 99101 h 99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1683" h="991010">
                  <a:moveTo>
                    <a:pt x="0" y="99101"/>
                  </a:moveTo>
                  <a:cubicBezTo>
                    <a:pt x="0" y="44369"/>
                    <a:pt x="44369" y="0"/>
                    <a:pt x="99101" y="0"/>
                  </a:cubicBezTo>
                  <a:lnTo>
                    <a:pt x="1552582" y="0"/>
                  </a:lnTo>
                  <a:cubicBezTo>
                    <a:pt x="1607314" y="0"/>
                    <a:pt x="1651683" y="44369"/>
                    <a:pt x="1651683" y="99101"/>
                  </a:cubicBezTo>
                  <a:lnTo>
                    <a:pt x="1651683" y="891909"/>
                  </a:lnTo>
                  <a:cubicBezTo>
                    <a:pt x="1651683" y="946641"/>
                    <a:pt x="1607314" y="991010"/>
                    <a:pt x="1552582" y="991010"/>
                  </a:cubicBezTo>
                  <a:lnTo>
                    <a:pt x="99101" y="991010"/>
                  </a:lnTo>
                  <a:cubicBezTo>
                    <a:pt x="44369" y="991010"/>
                    <a:pt x="0" y="946641"/>
                    <a:pt x="0" y="891909"/>
                  </a:cubicBezTo>
                  <a:lnTo>
                    <a:pt x="0" y="9910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0466" tIns="120466" rIns="120466" bIns="12046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400" kern="1200" dirty="0"/>
                <a:t>CNN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08A6E6B-385A-4D50-8BC3-6210A8AFE174}"/>
                </a:ext>
              </a:extLst>
            </p:cNvPr>
            <p:cNvSpPr/>
            <p:nvPr/>
          </p:nvSpPr>
          <p:spPr>
            <a:xfrm>
              <a:off x="5148505" y="3224190"/>
              <a:ext cx="354603" cy="409617"/>
            </a:xfrm>
            <a:custGeom>
              <a:avLst/>
              <a:gdLst>
                <a:gd name="connsiteX0" fmla="*/ 0 w 354603"/>
                <a:gd name="connsiteY0" fmla="*/ 81923 h 409617"/>
                <a:gd name="connsiteX1" fmla="*/ 177302 w 354603"/>
                <a:gd name="connsiteY1" fmla="*/ 81923 h 409617"/>
                <a:gd name="connsiteX2" fmla="*/ 177302 w 354603"/>
                <a:gd name="connsiteY2" fmla="*/ 0 h 409617"/>
                <a:gd name="connsiteX3" fmla="*/ 354603 w 354603"/>
                <a:gd name="connsiteY3" fmla="*/ 204809 h 409617"/>
                <a:gd name="connsiteX4" fmla="*/ 177302 w 354603"/>
                <a:gd name="connsiteY4" fmla="*/ 409617 h 409617"/>
                <a:gd name="connsiteX5" fmla="*/ 177302 w 354603"/>
                <a:gd name="connsiteY5" fmla="*/ 327694 h 409617"/>
                <a:gd name="connsiteX6" fmla="*/ 0 w 354603"/>
                <a:gd name="connsiteY6" fmla="*/ 327694 h 409617"/>
                <a:gd name="connsiteX7" fmla="*/ 0 w 354603"/>
                <a:gd name="connsiteY7" fmla="*/ 81923 h 409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4603" h="409617">
                  <a:moveTo>
                    <a:pt x="0" y="81923"/>
                  </a:moveTo>
                  <a:lnTo>
                    <a:pt x="177302" y="81923"/>
                  </a:lnTo>
                  <a:lnTo>
                    <a:pt x="177302" y="0"/>
                  </a:lnTo>
                  <a:lnTo>
                    <a:pt x="354603" y="204809"/>
                  </a:lnTo>
                  <a:lnTo>
                    <a:pt x="177302" y="409617"/>
                  </a:lnTo>
                  <a:lnTo>
                    <a:pt x="177302" y="327694"/>
                  </a:lnTo>
                  <a:lnTo>
                    <a:pt x="0" y="327694"/>
                  </a:lnTo>
                  <a:lnTo>
                    <a:pt x="0" y="81923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81923" rIns="106381" bIns="81923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800" kern="12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73BC473-5AAB-4DB5-8929-026CE690AE9C}"/>
                </a:ext>
              </a:extLst>
            </p:cNvPr>
            <p:cNvSpPr/>
            <p:nvPr/>
          </p:nvSpPr>
          <p:spPr>
            <a:xfrm>
              <a:off x="5650303" y="2933494"/>
              <a:ext cx="1651683" cy="991010"/>
            </a:xfrm>
            <a:custGeom>
              <a:avLst/>
              <a:gdLst>
                <a:gd name="connsiteX0" fmla="*/ 0 w 1651683"/>
                <a:gd name="connsiteY0" fmla="*/ 99101 h 991010"/>
                <a:gd name="connsiteX1" fmla="*/ 99101 w 1651683"/>
                <a:gd name="connsiteY1" fmla="*/ 0 h 991010"/>
                <a:gd name="connsiteX2" fmla="*/ 1552582 w 1651683"/>
                <a:gd name="connsiteY2" fmla="*/ 0 h 991010"/>
                <a:gd name="connsiteX3" fmla="*/ 1651683 w 1651683"/>
                <a:gd name="connsiteY3" fmla="*/ 99101 h 991010"/>
                <a:gd name="connsiteX4" fmla="*/ 1651683 w 1651683"/>
                <a:gd name="connsiteY4" fmla="*/ 891909 h 991010"/>
                <a:gd name="connsiteX5" fmla="*/ 1552582 w 1651683"/>
                <a:gd name="connsiteY5" fmla="*/ 991010 h 991010"/>
                <a:gd name="connsiteX6" fmla="*/ 99101 w 1651683"/>
                <a:gd name="connsiteY6" fmla="*/ 991010 h 991010"/>
                <a:gd name="connsiteX7" fmla="*/ 0 w 1651683"/>
                <a:gd name="connsiteY7" fmla="*/ 891909 h 991010"/>
                <a:gd name="connsiteX8" fmla="*/ 0 w 1651683"/>
                <a:gd name="connsiteY8" fmla="*/ 99101 h 99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1683" h="991010">
                  <a:moveTo>
                    <a:pt x="0" y="99101"/>
                  </a:moveTo>
                  <a:cubicBezTo>
                    <a:pt x="0" y="44369"/>
                    <a:pt x="44369" y="0"/>
                    <a:pt x="99101" y="0"/>
                  </a:cubicBezTo>
                  <a:lnTo>
                    <a:pt x="1552582" y="0"/>
                  </a:lnTo>
                  <a:cubicBezTo>
                    <a:pt x="1607314" y="0"/>
                    <a:pt x="1651683" y="44369"/>
                    <a:pt x="1651683" y="99101"/>
                  </a:cubicBezTo>
                  <a:lnTo>
                    <a:pt x="1651683" y="891909"/>
                  </a:lnTo>
                  <a:cubicBezTo>
                    <a:pt x="1651683" y="946641"/>
                    <a:pt x="1607314" y="991010"/>
                    <a:pt x="1552582" y="991010"/>
                  </a:cubicBezTo>
                  <a:lnTo>
                    <a:pt x="99101" y="991010"/>
                  </a:lnTo>
                  <a:cubicBezTo>
                    <a:pt x="44369" y="991010"/>
                    <a:pt x="0" y="946641"/>
                    <a:pt x="0" y="891909"/>
                  </a:cubicBezTo>
                  <a:lnTo>
                    <a:pt x="0" y="9910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0466" tIns="120466" rIns="120466" bIns="12046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400" kern="1200" dirty="0"/>
                <a:t>SVM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353EB26-BDC1-4C38-A00E-57B9C66E9166}"/>
                </a:ext>
              </a:extLst>
            </p:cNvPr>
            <p:cNvSpPr/>
            <p:nvPr/>
          </p:nvSpPr>
          <p:spPr>
            <a:xfrm>
              <a:off x="7467156" y="3224190"/>
              <a:ext cx="350157" cy="409617"/>
            </a:xfrm>
            <a:custGeom>
              <a:avLst/>
              <a:gdLst>
                <a:gd name="connsiteX0" fmla="*/ 0 w 350157"/>
                <a:gd name="connsiteY0" fmla="*/ 81923 h 409617"/>
                <a:gd name="connsiteX1" fmla="*/ 175079 w 350157"/>
                <a:gd name="connsiteY1" fmla="*/ 81923 h 409617"/>
                <a:gd name="connsiteX2" fmla="*/ 175079 w 350157"/>
                <a:gd name="connsiteY2" fmla="*/ 0 h 409617"/>
                <a:gd name="connsiteX3" fmla="*/ 350157 w 350157"/>
                <a:gd name="connsiteY3" fmla="*/ 204809 h 409617"/>
                <a:gd name="connsiteX4" fmla="*/ 175079 w 350157"/>
                <a:gd name="connsiteY4" fmla="*/ 409617 h 409617"/>
                <a:gd name="connsiteX5" fmla="*/ 175079 w 350157"/>
                <a:gd name="connsiteY5" fmla="*/ 327694 h 409617"/>
                <a:gd name="connsiteX6" fmla="*/ 0 w 350157"/>
                <a:gd name="connsiteY6" fmla="*/ 327694 h 409617"/>
                <a:gd name="connsiteX7" fmla="*/ 0 w 350157"/>
                <a:gd name="connsiteY7" fmla="*/ 81923 h 409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0157" h="409617">
                  <a:moveTo>
                    <a:pt x="0" y="81923"/>
                  </a:moveTo>
                  <a:lnTo>
                    <a:pt x="175079" y="81923"/>
                  </a:lnTo>
                  <a:lnTo>
                    <a:pt x="175079" y="0"/>
                  </a:lnTo>
                  <a:lnTo>
                    <a:pt x="350157" y="204809"/>
                  </a:lnTo>
                  <a:lnTo>
                    <a:pt x="175079" y="409617"/>
                  </a:lnTo>
                  <a:lnTo>
                    <a:pt x="175079" y="327694"/>
                  </a:lnTo>
                  <a:lnTo>
                    <a:pt x="0" y="327694"/>
                  </a:lnTo>
                  <a:lnTo>
                    <a:pt x="0" y="81923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81923" rIns="105047" bIns="81923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800" kern="12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B0DA87B-AF0F-492E-B24F-62F169C03CF6}"/>
                </a:ext>
              </a:extLst>
            </p:cNvPr>
            <p:cNvSpPr/>
            <p:nvPr/>
          </p:nvSpPr>
          <p:spPr>
            <a:xfrm>
              <a:off x="7962661" y="2933494"/>
              <a:ext cx="1651683" cy="991010"/>
            </a:xfrm>
            <a:custGeom>
              <a:avLst/>
              <a:gdLst>
                <a:gd name="connsiteX0" fmla="*/ 0 w 1651683"/>
                <a:gd name="connsiteY0" fmla="*/ 99101 h 991010"/>
                <a:gd name="connsiteX1" fmla="*/ 99101 w 1651683"/>
                <a:gd name="connsiteY1" fmla="*/ 0 h 991010"/>
                <a:gd name="connsiteX2" fmla="*/ 1552582 w 1651683"/>
                <a:gd name="connsiteY2" fmla="*/ 0 h 991010"/>
                <a:gd name="connsiteX3" fmla="*/ 1651683 w 1651683"/>
                <a:gd name="connsiteY3" fmla="*/ 99101 h 991010"/>
                <a:gd name="connsiteX4" fmla="*/ 1651683 w 1651683"/>
                <a:gd name="connsiteY4" fmla="*/ 891909 h 991010"/>
                <a:gd name="connsiteX5" fmla="*/ 1552582 w 1651683"/>
                <a:gd name="connsiteY5" fmla="*/ 991010 h 991010"/>
                <a:gd name="connsiteX6" fmla="*/ 99101 w 1651683"/>
                <a:gd name="connsiteY6" fmla="*/ 991010 h 991010"/>
                <a:gd name="connsiteX7" fmla="*/ 0 w 1651683"/>
                <a:gd name="connsiteY7" fmla="*/ 891909 h 991010"/>
                <a:gd name="connsiteX8" fmla="*/ 0 w 1651683"/>
                <a:gd name="connsiteY8" fmla="*/ 99101 h 99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1683" h="991010">
                  <a:moveTo>
                    <a:pt x="0" y="99101"/>
                  </a:moveTo>
                  <a:cubicBezTo>
                    <a:pt x="0" y="44369"/>
                    <a:pt x="44369" y="0"/>
                    <a:pt x="99101" y="0"/>
                  </a:cubicBezTo>
                  <a:lnTo>
                    <a:pt x="1552582" y="0"/>
                  </a:lnTo>
                  <a:cubicBezTo>
                    <a:pt x="1607314" y="0"/>
                    <a:pt x="1651683" y="44369"/>
                    <a:pt x="1651683" y="99101"/>
                  </a:cubicBezTo>
                  <a:lnTo>
                    <a:pt x="1651683" y="891909"/>
                  </a:lnTo>
                  <a:cubicBezTo>
                    <a:pt x="1651683" y="946641"/>
                    <a:pt x="1607314" y="991010"/>
                    <a:pt x="1552582" y="991010"/>
                  </a:cubicBezTo>
                  <a:lnTo>
                    <a:pt x="99101" y="991010"/>
                  </a:lnTo>
                  <a:cubicBezTo>
                    <a:pt x="44369" y="991010"/>
                    <a:pt x="0" y="946641"/>
                    <a:pt x="0" y="891909"/>
                  </a:cubicBezTo>
                  <a:lnTo>
                    <a:pt x="0" y="9910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0466" tIns="120466" rIns="120466" bIns="12046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400" kern="1200" dirty="0"/>
                <a:t>Prediction</a:t>
              </a:r>
            </a:p>
          </p:txBody>
        </p:sp>
      </p:grp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21519506-271A-484C-AB5E-8F28D1DD2813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91E118B-C366-4A27-BDA1-06863DE3ACED}"/>
              </a:ext>
            </a:extLst>
          </p:cNvPr>
          <p:cNvSpPr txBox="1"/>
          <p:nvPr/>
        </p:nvSpPr>
        <p:spPr>
          <a:xfrm>
            <a:off x="3169276" y="1938789"/>
            <a:ext cx="4163841" cy="149860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843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765F6-7DB3-45D9-B0C3-E0BBD66E4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Detail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E6470-1A33-4CA0-80B1-76F7D3C35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6099704" cy="3880773"/>
          </a:xfrm>
        </p:spPr>
        <p:txBody>
          <a:bodyPr/>
          <a:lstStyle/>
          <a:p>
            <a:r>
              <a:rPr lang="en-GB" dirty="0"/>
              <a:t>Yellow Rust, Black Sigatoka, Maize Streak Virus</a:t>
            </a:r>
          </a:p>
          <a:p>
            <a:r>
              <a:rPr lang="en-GB" dirty="0"/>
              <a:t>Trained with 53 images (training set around 10,000 times smaller than the </a:t>
            </a:r>
            <a:r>
              <a:rPr lang="en-GB" dirty="0" err="1"/>
              <a:t>PlantVillage</a:t>
            </a:r>
            <a:r>
              <a:rPr lang="en-GB" dirty="0"/>
              <a:t> dataset!)</a:t>
            </a:r>
          </a:p>
          <a:p>
            <a:r>
              <a:rPr lang="en-GB" dirty="0"/>
              <a:t>Dummy categorical data – could easily be replaced with real input data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76C46D-00A9-4352-B89F-9DF24B853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725" y="2691859"/>
            <a:ext cx="5098554" cy="406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64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765F6-7DB3-45D9-B0C3-E0BBD66E4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E6470-1A33-4CA0-80B1-76F7D3C35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30FDB2-352E-4FDC-B190-594E63D7C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149" y="1270000"/>
            <a:ext cx="6277851" cy="50108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FBA6F9-63F1-4341-8559-26EF9C9CAE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824" t="61212" r="13191" b="14447"/>
          <a:stretch/>
        </p:blipFill>
        <p:spPr>
          <a:xfrm>
            <a:off x="1272800" y="4285609"/>
            <a:ext cx="2410983" cy="246732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F22A620-1EB3-4F9E-A66E-A875A2974F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824" t="11516" r="13191" b="63738"/>
          <a:stretch/>
        </p:blipFill>
        <p:spPr>
          <a:xfrm>
            <a:off x="1318491" y="1537701"/>
            <a:ext cx="2410983" cy="250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854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765F6-7DB3-45D9-B0C3-E0BBD66E4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E6470-1A33-4CA0-80B1-76F7D3C35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ECEA5B-F5CE-4A55-9705-F4A8473A8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160589"/>
            <a:ext cx="2206036" cy="29043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9D1F16-9B0E-4990-B180-657DE459F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379" y="1602364"/>
            <a:ext cx="5561406" cy="443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940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765F6-7DB3-45D9-B0C3-E0BBD66E4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E6470-1A33-4CA0-80B1-76F7D3C35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6589485" cy="3880773"/>
          </a:xfrm>
        </p:spPr>
        <p:txBody>
          <a:bodyPr>
            <a:normAutofit lnSpcReduction="10000"/>
          </a:bodyPr>
          <a:lstStyle/>
          <a:p>
            <a:r>
              <a:rPr lang="en-GB" sz="2000" dirty="0"/>
              <a:t>Versatile – applicable to many diseases with appropriate training data</a:t>
            </a:r>
          </a:p>
          <a:p>
            <a:r>
              <a:rPr lang="en-GB" sz="2000" dirty="0"/>
              <a:t>Tractor mount/drones/robotic applications</a:t>
            </a:r>
          </a:p>
          <a:p>
            <a:r>
              <a:rPr lang="en-GB" sz="2000" dirty="0"/>
              <a:t>Harper Adams ‘Hands Free Hectare’</a:t>
            </a:r>
            <a:r>
              <a:rPr lang="en-GB" sz="2000" baseline="30000" dirty="0"/>
              <a:t>4</a:t>
            </a:r>
            <a:r>
              <a:rPr lang="en-GB" sz="2000" dirty="0"/>
              <a:t>. Crops planted, tended to and harvested entirely autonomously, back in 2017</a:t>
            </a:r>
            <a:endParaRPr lang="en-GB" sz="2000" baseline="30000" dirty="0"/>
          </a:p>
          <a:p>
            <a:r>
              <a:rPr lang="en-GB" sz="2000" dirty="0"/>
              <a:t>Developing world</a:t>
            </a:r>
          </a:p>
          <a:p>
            <a:r>
              <a:rPr lang="en-GB" sz="2000" dirty="0"/>
              <a:t>As a model, applicable to any context involving a mixture of visual and categorical input data, including human disease diagnosis amongst many other possibilities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80D5F-4839-4A72-9A6F-744658CEB536}"/>
              </a:ext>
            </a:extLst>
          </p:cNvPr>
          <p:cNvSpPr txBox="1"/>
          <p:nvPr/>
        </p:nvSpPr>
        <p:spPr>
          <a:xfrm>
            <a:off x="677334" y="6324599"/>
            <a:ext cx="10703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aseline="30000" dirty="0"/>
              <a:t>4</a:t>
            </a:r>
            <a:r>
              <a:rPr lang="en-GB" sz="1400" dirty="0"/>
              <a:t> https://www.harper-adams.ac.uk/news/203144/harvest-completed-at-worldfirst-project-to-farm-a-crop-exclusively-with-robots</a:t>
            </a:r>
          </a:p>
        </p:txBody>
      </p:sp>
      <p:pic>
        <p:nvPicPr>
          <p:cNvPr id="2050" name="Picture 2" descr="Image result for hands free hectare">
            <a:extLst>
              <a:ext uri="{FF2B5EF4-FFF2-40B4-BE49-F238E27FC236}">
                <a16:creationId xmlns:a16="http://schemas.microsoft.com/office/drawing/2014/main" id="{B09F37AA-B497-44B9-B52D-A88674E6E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6819" y="0"/>
            <a:ext cx="5372590" cy="2820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483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657E-FAAE-4E8B-B789-F50B204A4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537" y="273425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GB" sz="4400" dirty="0"/>
              <a:t>Any 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25963-5A6C-4298-BC8F-37395914D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0500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527</Words>
  <Application>Microsoft Office PowerPoint</Application>
  <PresentationFormat>Widescreen</PresentationFormat>
  <Paragraphs>57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</vt:lpstr>
      <vt:lpstr>Using Machine Learning To Inform Plant Disease Diagnosis</vt:lpstr>
      <vt:lpstr>Background</vt:lpstr>
      <vt:lpstr>Background</vt:lpstr>
      <vt:lpstr>PowerPoint Presentation</vt:lpstr>
      <vt:lpstr>Machine Learning Background</vt:lpstr>
      <vt:lpstr>Machine Learning Background</vt:lpstr>
      <vt:lpstr>What Systems Exist Currently?</vt:lpstr>
      <vt:lpstr>Machine Learning-Initial Trials</vt:lpstr>
      <vt:lpstr>Model Structure</vt:lpstr>
      <vt:lpstr>PowerPoint Presentation</vt:lpstr>
      <vt:lpstr>Model Detail</vt:lpstr>
      <vt:lpstr>Results</vt:lpstr>
      <vt:lpstr>Results</vt:lpstr>
      <vt:lpstr>Future Scope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 Machine Learning To Inform Plant Disease Diagnosis</dc:title>
  <dc:creator>Nick Taylor</dc:creator>
  <cp:lastModifiedBy>Administrator</cp:lastModifiedBy>
  <cp:revision>1</cp:revision>
  <dcterms:created xsi:type="dcterms:W3CDTF">2019-03-13T23:33:45Z</dcterms:created>
  <dcterms:modified xsi:type="dcterms:W3CDTF">2019-03-14T11:50:09Z</dcterms:modified>
</cp:coreProperties>
</file>